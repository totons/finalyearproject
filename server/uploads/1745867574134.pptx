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415A3C-0B68-4684-A0B5-376AE796C51B}" v="982" dt="2025-04-26T20:32:25.2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38729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dirty="0">
                <a:ea typeface="+mj-lt"/>
                <a:cs typeface="+mj-lt"/>
              </a:rPr>
              <a:t>Skilled-based Online Marketplace</a:t>
            </a:r>
            <a:endParaRPr lang="en-US" sz="4800" dirty="0"/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7302" y="3648501"/>
            <a:ext cx="4270917" cy="20309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Open Sans"/>
                <a:ea typeface="Open Sans"/>
                <a:cs typeface="Open Sans"/>
              </a:rPr>
              <a:t>Presented By :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800" err="1">
                <a:latin typeface="Open Sans"/>
                <a:ea typeface="Open Sans"/>
                <a:cs typeface="Open Sans"/>
              </a:rPr>
              <a:t>Oveshek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err="1">
                <a:latin typeface="Open Sans"/>
                <a:ea typeface="Open Sans"/>
                <a:cs typeface="Open Sans"/>
              </a:rPr>
              <a:t>kundu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Toton</a:t>
            </a:r>
            <a:endParaRPr lang="en-US" sz="1800">
              <a:latin typeface="Open Sans"/>
              <a:ea typeface="Open Sans"/>
              <a:cs typeface="Open San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latin typeface="Open Sans"/>
                <a:ea typeface="Open Sans"/>
                <a:cs typeface="Open Sans"/>
              </a:rPr>
              <a:t>Student ID : 200154</a:t>
            </a:r>
            <a:endParaRPr lang="en-GB" sz="1800" dirty="0">
              <a:latin typeface="Open Sans"/>
              <a:ea typeface="Open Sans"/>
              <a:cs typeface="Open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AAD61-705A-E057-CA14-D341DC9C90CF}"/>
              </a:ext>
            </a:extLst>
          </p:cNvPr>
          <p:cNvSpPr txBox="1"/>
          <p:nvPr/>
        </p:nvSpPr>
        <p:spPr>
          <a:xfrm>
            <a:off x="6397083" y="3646449"/>
            <a:ext cx="419608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Open Sans"/>
                <a:ea typeface="Open Sans"/>
                <a:cs typeface="Open Sans"/>
              </a:rPr>
              <a:t>Supervised by :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Open Sans"/>
                <a:ea typeface="Open Sans"/>
                <a:cs typeface="Open Sans"/>
              </a:rPr>
              <a:t>Dr. Md. Alam Hossain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Open Sans"/>
                <a:ea typeface="Open Sans"/>
                <a:cs typeface="Open Sans"/>
              </a:rPr>
              <a:t>Professor, </a:t>
            </a:r>
          </a:p>
          <a:p>
            <a:r>
              <a:rPr lang="en-US" dirty="0">
                <a:latin typeface="Open Sans"/>
                <a:ea typeface="Open Sans"/>
                <a:cs typeface="Open Sans"/>
              </a:rPr>
              <a:t>Computer Science and Engineering</a:t>
            </a:r>
          </a:p>
          <a:p>
            <a:r>
              <a:rPr lang="en-US" err="1">
                <a:ea typeface="+mn-lt"/>
                <a:cs typeface="+mn-lt"/>
              </a:rPr>
              <a:t>Jashore</a:t>
            </a:r>
            <a:r>
              <a:rPr lang="en-US">
                <a:ea typeface="+mn-lt"/>
                <a:cs typeface="+mn-lt"/>
              </a:rPr>
              <a:t> University of Science and Technology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63FA7-9B58-F837-BCDF-8FB6D77AC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8566" y="2084271"/>
            <a:ext cx="5478966" cy="2375636"/>
          </a:xfrm>
        </p:spPr>
        <p:txBody>
          <a:bodyPr>
            <a:normAutofit/>
          </a:bodyPr>
          <a:lstStyle/>
          <a:p>
            <a:pPr marL="285750" indent="-285750">
              <a:buFont typeface="Arial"/>
              <a:buChar char="•"/>
            </a:pPr>
            <a:endParaRPr lang="en-US" b="1" dirty="0"/>
          </a:p>
          <a:p>
            <a:endParaRPr lang="en-US" dirty="0"/>
          </a:p>
        </p:txBody>
      </p:sp>
      <p:pic>
        <p:nvPicPr>
          <p:cNvPr id="5" name="Content Placeholder 4" descr="A person talking to a group of people&#10;&#10;AI-generated content may be incorrect.">
            <a:extLst>
              <a:ext uri="{FF2B5EF4-FFF2-40B4-BE49-F238E27FC236}">
                <a16:creationId xmlns:a16="http://schemas.microsoft.com/office/drawing/2014/main" id="{3773AFCD-951F-7699-391E-01D298854D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1223" y="1193640"/>
            <a:ext cx="3973553" cy="3626675"/>
          </a:xfrm>
        </p:spPr>
      </p:pic>
      <p:cxnSp>
        <p:nvCxnSpPr>
          <p:cNvPr id="4" name="Google Shape;208;p3">
            <a:extLst>
              <a:ext uri="{FF2B5EF4-FFF2-40B4-BE49-F238E27FC236}">
                <a16:creationId xmlns:a16="http://schemas.microsoft.com/office/drawing/2014/main" id="{09ED312D-2283-4D33-56D2-C2777BD7BC2C}"/>
              </a:ext>
            </a:extLst>
          </p:cNvPr>
          <p:cNvCxnSpPr/>
          <p:nvPr/>
        </p:nvCxnSpPr>
        <p:spPr>
          <a:xfrm flipH="1">
            <a:off x="5877349" y="693539"/>
            <a:ext cx="49612" cy="5473850"/>
          </a:xfrm>
          <a:prstGeom prst="straightConnector1">
            <a:avLst/>
          </a:prstGeom>
          <a:noFill/>
          <a:ln w="7620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" name="Google Shape;207;p3">
            <a:extLst>
              <a:ext uri="{FF2B5EF4-FFF2-40B4-BE49-F238E27FC236}">
                <a16:creationId xmlns:a16="http://schemas.microsoft.com/office/drawing/2014/main" id="{0DC7EEBC-CA8C-1796-D26C-C4F2257413B3}"/>
              </a:ext>
            </a:extLst>
          </p:cNvPr>
          <p:cNvSpPr txBox="1"/>
          <p:nvPr/>
        </p:nvSpPr>
        <p:spPr>
          <a:xfrm>
            <a:off x="1629128" y="5152215"/>
            <a:ext cx="2693074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3600"/>
              <a:buFont typeface="Arial Black" panose="020B0A04020102020204"/>
              <a:buNone/>
            </a:pPr>
            <a:r>
              <a:rPr lang="en-US" sz="2200" b="1" dirty="0">
                <a:latin typeface="Arial Black"/>
                <a:sym typeface="Times New Roman" panose="02020603050405020304"/>
              </a:rPr>
              <a:t>INTRODUCTION</a:t>
            </a:r>
            <a:endParaRPr lang="en-US" sz="2200" b="1" dirty="0">
              <a:latin typeface="Arial Black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A427F2B-DC95-6F44-3F99-9AF020D89398}"/>
              </a:ext>
            </a:extLst>
          </p:cNvPr>
          <p:cNvSpPr txBox="1"/>
          <p:nvPr/>
        </p:nvSpPr>
        <p:spPr>
          <a:xfrm>
            <a:off x="6232186" y="1948788"/>
            <a:ext cx="4954153" cy="295850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/>
                <a:cs typeface="Times New Roman"/>
              </a:rPr>
              <a:t>Skills</a:t>
            </a:r>
            <a:endParaRPr lang="en-US" b="1">
              <a:latin typeface="Times New Roman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/>
                <a:cs typeface="Times New Roman"/>
              </a:rPr>
              <a:t>Safety</a:t>
            </a:r>
            <a:endParaRPr lang="en-GB" dirty="0"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/>
                <a:cs typeface="Times New Roman"/>
              </a:rPr>
              <a:t>Trust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/>
                <a:cs typeface="Times New Roman"/>
              </a:rPr>
              <a:t>Transparency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419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FB36F-CF68-2542-C7AA-E796DAD2C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2614" y="1366380"/>
            <a:ext cx="5711283" cy="4122660"/>
          </a:xfrm>
        </p:spPr>
        <p:txBody>
          <a:bodyPr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b="1" dirty="0">
                <a:ea typeface="+mj-lt"/>
                <a:cs typeface="+mj-lt"/>
              </a:rPr>
              <a:t>User Registration &amp; Role Assignment</a:t>
            </a:r>
            <a:br>
              <a:rPr lang="en-US" sz="2400" b="1" dirty="0">
                <a:ea typeface="+mj-lt"/>
                <a:cs typeface="+mj-lt"/>
              </a:rPr>
            </a:b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ea typeface="+mj-lt"/>
                <a:cs typeface="+mj-lt"/>
              </a:rPr>
              <a:t>Job Categorization &amp; Skill Filtering</a:t>
            </a:r>
            <a:br>
              <a:rPr lang="en-US" sz="2400" b="1" dirty="0">
                <a:ea typeface="+mj-lt"/>
                <a:cs typeface="+mj-lt"/>
              </a:rPr>
            </a:b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ea typeface="+mj-lt"/>
                <a:cs typeface="+mj-lt"/>
              </a:rPr>
              <a:t>Availability Management</a:t>
            </a:r>
            <a:br>
              <a:rPr lang="en-US" sz="2400" b="1" dirty="0">
                <a:ea typeface="+mj-lt"/>
                <a:cs typeface="+mj-lt"/>
              </a:rPr>
            </a:b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ea typeface="+mj-lt"/>
                <a:cs typeface="+mj-lt"/>
              </a:rPr>
              <a:t>Rating &amp; Feedback System</a:t>
            </a:r>
            <a:br>
              <a:rPr lang="en-US" sz="2400" b="1" dirty="0">
                <a:ea typeface="+mj-lt"/>
                <a:cs typeface="+mj-lt"/>
              </a:rPr>
            </a:b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ea typeface="+mj-lt"/>
                <a:cs typeface="+mj-lt"/>
              </a:rPr>
              <a:t>Advanced Search &amp; Filtering</a:t>
            </a:r>
            <a:br>
              <a:rPr lang="en-US" sz="2400" b="1" dirty="0">
                <a:ea typeface="+mj-lt"/>
                <a:cs typeface="+mj-lt"/>
              </a:rPr>
            </a:b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ea typeface="+mj-lt"/>
                <a:cs typeface="+mj-lt"/>
              </a:rPr>
              <a:t>Subscription Options</a:t>
            </a:r>
            <a:br>
              <a:rPr lang="en-US" sz="2400" b="1" dirty="0">
                <a:ea typeface="+mj-lt"/>
                <a:cs typeface="+mj-lt"/>
              </a:rPr>
            </a:br>
            <a:endParaRPr lang="en-US" sz="2400" dirty="0"/>
          </a:p>
          <a:p>
            <a:endParaRPr lang="en-US" sz="2400" dirty="0"/>
          </a:p>
        </p:txBody>
      </p:sp>
      <p:pic>
        <p:nvPicPr>
          <p:cNvPr id="7" name="Content Placeholder 6" descr="A person pointing at a target&#10;&#10;AI-generated content may be incorrect.">
            <a:extLst>
              <a:ext uri="{FF2B5EF4-FFF2-40B4-BE49-F238E27FC236}">
                <a16:creationId xmlns:a16="http://schemas.microsoft.com/office/drawing/2014/main" id="{D4B2A74A-541C-B275-181C-9E4F6E360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8907" y="1159467"/>
            <a:ext cx="4177991" cy="3128167"/>
          </a:xfrm>
        </p:spPr>
      </p:pic>
      <p:sp>
        <p:nvSpPr>
          <p:cNvPr id="8" name="Google Shape;219;p4">
            <a:extLst>
              <a:ext uri="{FF2B5EF4-FFF2-40B4-BE49-F238E27FC236}">
                <a16:creationId xmlns:a16="http://schemas.microsoft.com/office/drawing/2014/main" id="{C9D3932D-0273-E91C-2179-51C9AAADB87D}"/>
              </a:ext>
            </a:extLst>
          </p:cNvPr>
          <p:cNvSpPr txBox="1"/>
          <p:nvPr/>
        </p:nvSpPr>
        <p:spPr>
          <a:xfrm>
            <a:off x="1463744" y="4883837"/>
            <a:ext cx="317491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al Black" panose="020B0A04020102020204"/>
              <a:buNone/>
            </a:pPr>
            <a:endParaRPr lang="en-US" sz="3200" dirty="0">
              <a:latin typeface="Arial Black"/>
            </a:endParaRPr>
          </a:p>
        </p:txBody>
      </p:sp>
      <p:cxnSp>
        <p:nvCxnSpPr>
          <p:cNvPr id="10" name="Google Shape;208;p3">
            <a:extLst>
              <a:ext uri="{FF2B5EF4-FFF2-40B4-BE49-F238E27FC236}">
                <a16:creationId xmlns:a16="http://schemas.microsoft.com/office/drawing/2014/main" id="{DD5602F5-CF71-47C5-FC0A-0785BB03E838}"/>
              </a:ext>
            </a:extLst>
          </p:cNvPr>
          <p:cNvCxnSpPr/>
          <p:nvPr/>
        </p:nvCxnSpPr>
        <p:spPr>
          <a:xfrm flipH="1">
            <a:off x="5338373" y="609905"/>
            <a:ext cx="49612" cy="5473850"/>
          </a:xfrm>
          <a:prstGeom prst="straightConnector1">
            <a:avLst/>
          </a:prstGeom>
          <a:noFill/>
          <a:ln w="7620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Google Shape;219;p4">
            <a:extLst>
              <a:ext uri="{FF2B5EF4-FFF2-40B4-BE49-F238E27FC236}">
                <a16:creationId xmlns:a16="http://schemas.microsoft.com/office/drawing/2014/main" id="{71B9F340-5CB4-2ED7-26D8-B399E49C620D}"/>
              </a:ext>
            </a:extLst>
          </p:cNvPr>
          <p:cNvSpPr txBox="1"/>
          <p:nvPr/>
        </p:nvSpPr>
        <p:spPr>
          <a:xfrm>
            <a:off x="2056410" y="4841504"/>
            <a:ext cx="1989586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ea typeface="+mn-lt"/>
                <a:cs typeface="+mn-lt"/>
                <a:sym typeface="Arial Black" panose="020B0A04020102020204"/>
              </a:rPr>
              <a:t>Key Features</a:t>
            </a:r>
            <a:endParaRPr lang="en-US" sz="2400" dirty="0"/>
          </a:p>
          <a:p>
            <a:br>
              <a:rPr lang="en-US" dirty="0">
                <a:sym typeface="Arial Black" panose="020B0A04020102020204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353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A9220-C0A3-BA92-8F72-F0CCFD6D9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7857" y="1712566"/>
            <a:ext cx="5190894" cy="4838198"/>
          </a:xfrm>
        </p:spPr>
        <p:txBody>
          <a:bodyPr>
            <a:normAutofit fontScale="90000"/>
          </a:bodyPr>
          <a:lstStyle/>
          <a:p>
            <a:pPr marL="285750" indent="-285750">
              <a:buFont typeface="Arial"/>
              <a:buChar char="•"/>
            </a:pPr>
            <a:r>
              <a:rPr lang="en-US" sz="2400" b="1" dirty="0"/>
              <a:t>Notification System</a:t>
            </a:r>
            <a:br>
              <a:rPr lang="en-US" sz="2400" b="1" dirty="0"/>
            </a:b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 b="1" dirty="0"/>
              <a:t>Payment Gateway</a:t>
            </a:r>
            <a:br>
              <a:rPr lang="en-US" sz="2400" b="1" dirty="0"/>
            </a:b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 b="1" dirty="0"/>
              <a:t>Bidding System</a:t>
            </a:r>
            <a:br>
              <a:rPr lang="en-US" sz="2400" b="1" dirty="0"/>
            </a:br>
            <a:endParaRPr lang="en-US" sz="2400"/>
          </a:p>
          <a:p>
            <a:pPr marL="342900" indent="-342900">
              <a:buFont typeface="Arial"/>
              <a:buChar char="•"/>
            </a:pPr>
            <a:r>
              <a:rPr lang="en-US" sz="2200" b="1" dirty="0"/>
              <a:t>Analytics Dashboard</a:t>
            </a:r>
            <a:br>
              <a:rPr lang="en-US" sz="2200" b="1" dirty="0"/>
            </a:br>
            <a:endParaRPr lang="en-US" sz="2200" b="1" dirty="0"/>
          </a:p>
          <a:p>
            <a:pPr marL="342900" indent="-342900">
              <a:buFont typeface="Arial"/>
              <a:buChar char="•"/>
            </a:pPr>
            <a:r>
              <a:rPr lang="en-US" sz="2200" b="1" dirty="0"/>
              <a:t>Real-Time Chat</a:t>
            </a:r>
            <a:br>
              <a:rPr lang="en-US" sz="2200" b="1" dirty="0"/>
            </a:br>
            <a:br>
              <a:rPr lang="en-US" sz="2200" b="1" dirty="0"/>
            </a:br>
            <a:br>
              <a:rPr lang="en-US" sz="2200" b="1" dirty="0"/>
            </a:br>
            <a:br>
              <a:rPr lang="en-US" sz="2200" b="1" dirty="0"/>
            </a:br>
            <a:br>
              <a:rPr lang="en-US" sz="2200" b="1" dirty="0"/>
            </a:br>
            <a:br>
              <a:rPr lang="en-US" sz="2200" b="1" dirty="0"/>
            </a:br>
            <a:br>
              <a:rPr lang="en-US" sz="2200" b="1" dirty="0"/>
            </a:br>
            <a:br>
              <a:rPr lang="en-US" sz="2200" b="1" dirty="0"/>
            </a:br>
            <a:endParaRPr lang="en-US" sz="2200"/>
          </a:p>
        </p:txBody>
      </p:sp>
      <p:pic>
        <p:nvPicPr>
          <p:cNvPr id="4" name="Content Placeholder 3" descr="A person pointing at a target&#10;&#10;AI-generated content may be incorrect.">
            <a:extLst>
              <a:ext uri="{FF2B5EF4-FFF2-40B4-BE49-F238E27FC236}">
                <a16:creationId xmlns:a16="http://schemas.microsoft.com/office/drawing/2014/main" id="{92389CE8-4224-AB75-EF3B-076F2081EC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8783" y="1375145"/>
            <a:ext cx="4678247" cy="3179513"/>
          </a:xfrm>
        </p:spPr>
      </p:pic>
      <p:cxnSp>
        <p:nvCxnSpPr>
          <p:cNvPr id="6" name="Google Shape;208;p3">
            <a:extLst>
              <a:ext uri="{FF2B5EF4-FFF2-40B4-BE49-F238E27FC236}">
                <a16:creationId xmlns:a16="http://schemas.microsoft.com/office/drawing/2014/main" id="{2833795E-A5D9-6D78-3E13-4464300FAE25}"/>
              </a:ext>
            </a:extLst>
          </p:cNvPr>
          <p:cNvCxnSpPr/>
          <p:nvPr/>
        </p:nvCxnSpPr>
        <p:spPr>
          <a:xfrm flipH="1">
            <a:off x="5710080" y="693539"/>
            <a:ext cx="49612" cy="5473850"/>
          </a:xfrm>
          <a:prstGeom prst="straightConnector1">
            <a:avLst/>
          </a:prstGeom>
          <a:noFill/>
          <a:ln w="7620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219;p4">
            <a:extLst>
              <a:ext uri="{FF2B5EF4-FFF2-40B4-BE49-F238E27FC236}">
                <a16:creationId xmlns:a16="http://schemas.microsoft.com/office/drawing/2014/main" id="{0A92680D-32C2-60D7-7ACF-6349445FA43B}"/>
              </a:ext>
            </a:extLst>
          </p:cNvPr>
          <p:cNvSpPr txBox="1"/>
          <p:nvPr/>
        </p:nvSpPr>
        <p:spPr>
          <a:xfrm>
            <a:off x="2056410" y="4841504"/>
            <a:ext cx="1989586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ea typeface="+mn-lt"/>
                <a:cs typeface="+mn-lt"/>
                <a:sym typeface="Arial Black" panose="020B0A04020102020204"/>
              </a:rPr>
              <a:t>Key Features</a:t>
            </a:r>
            <a:endParaRPr lang="en-US" sz="2400" dirty="0"/>
          </a:p>
          <a:p>
            <a:br>
              <a:rPr lang="en-US" dirty="0">
                <a:sym typeface="Arial Black" panose="020B0A04020102020204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423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42A7D-F5D1-44BE-4369-94C0F974A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297" y="365125"/>
            <a:ext cx="6194503" cy="581392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400" b="1" dirty="0">
                <a:latin typeface="Calibri"/>
                <a:ea typeface="Calibri"/>
                <a:cs typeface="Calibri"/>
              </a:rPr>
              <a:t>References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r>
              <a:rPr lang="en-GB" sz="2000" dirty="0">
                <a:ea typeface="+mj-lt"/>
                <a:cs typeface="+mj-lt"/>
              </a:rPr>
              <a:t>This chapter will list all the references and resources used during the development of the project. Possible references include:</a:t>
            </a:r>
            <a:br>
              <a:rPr lang="en-GB" sz="2000" dirty="0">
                <a:ea typeface="+mj-lt"/>
                <a:cs typeface="+mj-lt"/>
              </a:rPr>
            </a:br>
            <a:endParaRPr lang="en-US" sz="2000">
              <a:ea typeface="+mj-lt"/>
              <a:cs typeface="+mj-lt"/>
            </a:endParaRPr>
          </a:p>
          <a:p>
            <a:pPr marL="285750" indent="-285750">
              <a:buFont typeface="Arial"/>
              <a:buChar char="•"/>
            </a:pPr>
            <a:r>
              <a:rPr lang="en-GB" sz="2200" b="1" dirty="0">
                <a:ea typeface="+mj-lt"/>
                <a:cs typeface="+mj-lt"/>
              </a:rPr>
              <a:t>MERN Stack Documentation</a:t>
            </a:r>
            <a:r>
              <a:rPr lang="en-GB" sz="2200" dirty="0">
                <a:ea typeface="+mj-lt"/>
                <a:cs typeface="+mj-lt"/>
              </a:rPr>
              <a:t>: MongoDB, Express, React, and Node.js official docs.</a:t>
            </a:r>
            <a:br>
              <a:rPr lang="en-US" dirty="0"/>
            </a:br>
            <a:endParaRPr lang="en-GB" sz="2200" dirty="0">
              <a:ea typeface="+mj-lt"/>
              <a:cs typeface="+mj-lt"/>
            </a:endParaRPr>
          </a:p>
          <a:p>
            <a:pPr marL="285750" indent="-285750">
              <a:buFont typeface="Arial"/>
              <a:buChar char="•"/>
            </a:pPr>
            <a:r>
              <a:rPr lang="en-GB" sz="2200" b="1" dirty="0">
                <a:ea typeface="+mj-lt"/>
                <a:cs typeface="+mj-lt"/>
              </a:rPr>
              <a:t>Payment Integration</a:t>
            </a:r>
            <a:r>
              <a:rPr lang="en-GB" sz="2200" dirty="0">
                <a:ea typeface="+mj-lt"/>
                <a:cs typeface="+mj-lt"/>
              </a:rPr>
              <a:t>: </a:t>
            </a:r>
            <a:r>
              <a:rPr lang="en-GB" sz="2200" dirty="0" err="1">
                <a:ea typeface="+mj-lt"/>
                <a:cs typeface="+mj-lt"/>
              </a:rPr>
              <a:t>SSLCommerz</a:t>
            </a:r>
            <a:br>
              <a:rPr lang="en-US" dirty="0"/>
            </a:br>
            <a:endParaRPr lang="en-GB" sz="2200"/>
          </a:p>
          <a:p>
            <a:pPr marL="285750" indent="-285750">
              <a:buFont typeface="Arial"/>
              <a:buChar char="•"/>
            </a:pPr>
            <a:r>
              <a:rPr lang="en-GB" sz="2200" b="1" dirty="0">
                <a:ea typeface="+mj-lt"/>
                <a:cs typeface="+mj-lt"/>
              </a:rPr>
              <a:t>Live Chatting Web Socket</a:t>
            </a:r>
            <a:r>
              <a:rPr lang="en-GB" sz="2200" dirty="0">
                <a:ea typeface="+mj-lt"/>
                <a:cs typeface="+mj-lt"/>
              </a:rPr>
              <a:t>: For real-time communication between users.</a:t>
            </a:r>
            <a:endParaRPr lang="en-GB" sz="220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GB" sz="2400" dirty="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GB" sz="1800" dirty="0">
              <a:latin typeface="Calibri"/>
              <a:ea typeface="Calibri"/>
              <a:cs typeface="Calibri"/>
            </a:endParaRPr>
          </a:p>
        </p:txBody>
      </p:sp>
      <p:pic>
        <p:nvPicPr>
          <p:cNvPr id="4" name="Content Placeholder 3" descr="download122">
            <a:extLst>
              <a:ext uri="{FF2B5EF4-FFF2-40B4-BE49-F238E27FC236}">
                <a16:creationId xmlns:a16="http://schemas.microsoft.com/office/drawing/2014/main" id="{8731A5BA-43F3-C260-B571-124C9321D0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1393" y="1809731"/>
            <a:ext cx="2971800" cy="2924175"/>
          </a:xfr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816DF7B8-72C0-1CF3-563D-3A4CA74374F4}"/>
              </a:ext>
            </a:extLst>
          </p:cNvPr>
          <p:cNvSpPr txBox="1"/>
          <p:nvPr/>
        </p:nvSpPr>
        <p:spPr>
          <a:xfrm>
            <a:off x="1575614" y="5152373"/>
            <a:ext cx="304912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sz="3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T</a:t>
            </a:r>
            <a:r>
              <a:rPr lang="en-US" sz="32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echnology</a:t>
            </a:r>
          </a:p>
        </p:txBody>
      </p:sp>
      <p:cxnSp>
        <p:nvCxnSpPr>
          <p:cNvPr id="7" name="Google Shape;208;p3">
            <a:extLst>
              <a:ext uri="{FF2B5EF4-FFF2-40B4-BE49-F238E27FC236}">
                <a16:creationId xmlns:a16="http://schemas.microsoft.com/office/drawing/2014/main" id="{2405474C-05BC-267A-E3B3-F3A6CBCCC308}"/>
              </a:ext>
            </a:extLst>
          </p:cNvPr>
          <p:cNvCxnSpPr/>
          <p:nvPr/>
        </p:nvCxnSpPr>
        <p:spPr>
          <a:xfrm flipH="1">
            <a:off x="4957373" y="693539"/>
            <a:ext cx="49612" cy="5473850"/>
          </a:xfrm>
          <a:prstGeom prst="straightConnector1">
            <a:avLst/>
          </a:prstGeom>
          <a:noFill/>
          <a:ln w="7620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832984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4B273-AE69-E8A7-517D-9B5B7F3EE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3689" y="365125"/>
            <a:ext cx="8099501" cy="5786052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Content Placeholder 3" descr="download">
            <a:extLst>
              <a:ext uri="{FF2B5EF4-FFF2-40B4-BE49-F238E27FC236}">
                <a16:creationId xmlns:a16="http://schemas.microsoft.com/office/drawing/2014/main" id="{F5854A7C-B42B-61EB-B7BE-4DC2F0593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6966" y="1715178"/>
            <a:ext cx="2191215" cy="1803013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05253D-EC97-06D9-BAC9-906D8DA7B892}"/>
              </a:ext>
            </a:extLst>
          </p:cNvPr>
          <p:cNvSpPr txBox="1"/>
          <p:nvPr/>
        </p:nvSpPr>
        <p:spPr>
          <a:xfrm>
            <a:off x="908824" y="4031109"/>
            <a:ext cx="218378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dirty="0">
                <a:latin typeface="Arial Black"/>
              </a:rPr>
              <a:t>WORK PLAN</a:t>
            </a:r>
            <a:r>
              <a:rPr lang="en-US" sz="3200" dirty="0">
                <a:latin typeface="Arial Black"/>
              </a:rPr>
              <a:t> </a:t>
            </a:r>
            <a:endParaRPr lang="en-US" sz="2400" b="1" dirty="0">
              <a:latin typeface="Arial Black"/>
            </a:endParaRPr>
          </a:p>
        </p:txBody>
      </p:sp>
      <p:cxnSp>
        <p:nvCxnSpPr>
          <p:cNvPr id="7" name="Google Shape;208;p3">
            <a:extLst>
              <a:ext uri="{FF2B5EF4-FFF2-40B4-BE49-F238E27FC236}">
                <a16:creationId xmlns:a16="http://schemas.microsoft.com/office/drawing/2014/main" id="{AF9997F6-15E5-12A1-DC88-1082BB118312}"/>
              </a:ext>
            </a:extLst>
          </p:cNvPr>
          <p:cNvCxnSpPr/>
          <p:nvPr/>
        </p:nvCxnSpPr>
        <p:spPr>
          <a:xfrm flipH="1">
            <a:off x="3359031" y="684246"/>
            <a:ext cx="49612" cy="5473850"/>
          </a:xfrm>
          <a:prstGeom prst="straightConnector1">
            <a:avLst/>
          </a:prstGeom>
          <a:noFill/>
          <a:ln w="7620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A3A280D-A767-9366-C4B8-E741AFF36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297968"/>
              </p:ext>
            </p:extLst>
          </p:nvPr>
        </p:nvGraphicFramePr>
        <p:xfrm>
          <a:off x="3509613" y="1612534"/>
          <a:ext cx="7956716" cy="3278855"/>
        </p:xfrm>
        <a:graphic>
          <a:graphicData uri="http://schemas.openxmlformats.org/drawingml/2006/table">
            <a:tbl>
              <a:tblPr bandRow="1">
                <a:tableStyleId>{00A15C55-8517-42AA-B614-E9B94910E393}</a:tableStyleId>
              </a:tblPr>
              <a:tblGrid>
                <a:gridCol w="3939667">
                  <a:extLst>
                    <a:ext uri="{9D8B030D-6E8A-4147-A177-3AD203B41FA5}">
                      <a16:colId xmlns:a16="http://schemas.microsoft.com/office/drawing/2014/main" val="784669233"/>
                    </a:ext>
                  </a:extLst>
                </a:gridCol>
                <a:gridCol w="851249">
                  <a:extLst>
                    <a:ext uri="{9D8B030D-6E8A-4147-A177-3AD203B41FA5}">
                      <a16:colId xmlns:a16="http://schemas.microsoft.com/office/drawing/2014/main" val="2183359660"/>
                    </a:ext>
                  </a:extLst>
                </a:gridCol>
                <a:gridCol w="823108">
                  <a:extLst>
                    <a:ext uri="{9D8B030D-6E8A-4147-A177-3AD203B41FA5}">
                      <a16:colId xmlns:a16="http://schemas.microsoft.com/office/drawing/2014/main" val="4092915397"/>
                    </a:ext>
                  </a:extLst>
                </a:gridCol>
                <a:gridCol w="791450">
                  <a:extLst>
                    <a:ext uri="{9D8B030D-6E8A-4147-A177-3AD203B41FA5}">
                      <a16:colId xmlns:a16="http://schemas.microsoft.com/office/drawing/2014/main" val="2433710356"/>
                    </a:ext>
                  </a:extLst>
                </a:gridCol>
                <a:gridCol w="791450">
                  <a:extLst>
                    <a:ext uri="{9D8B030D-6E8A-4147-A177-3AD203B41FA5}">
                      <a16:colId xmlns:a16="http://schemas.microsoft.com/office/drawing/2014/main" val="1153947300"/>
                    </a:ext>
                  </a:extLst>
                </a:gridCol>
                <a:gridCol w="759792">
                  <a:extLst>
                    <a:ext uri="{9D8B030D-6E8A-4147-A177-3AD203B41FA5}">
                      <a16:colId xmlns:a16="http://schemas.microsoft.com/office/drawing/2014/main" val="1572887893"/>
                    </a:ext>
                  </a:extLst>
                </a:gridCol>
              </a:tblGrid>
              <a:tr h="348499">
                <a:tc rowSpan="2">
                  <a:txBody>
                    <a:bodyPr/>
                    <a:lstStyle/>
                    <a:p>
                      <a:pPr algn="ctr" fontAlgn="auto">
                        <a:lnSpc>
                          <a:spcPts val="2175"/>
                        </a:lnSpc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</a:rPr>
                        <a:t>MAJOR MILSTONE</a:t>
                      </a:r>
                      <a:endParaRPr lang="en-US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3074869224"/>
                  </a:ext>
                </a:extLst>
              </a:tr>
              <a:tr h="41649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6-7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8-9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10-11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578201"/>
                  </a:ext>
                </a:extLst>
              </a:tr>
              <a:tr h="41649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Basic Knowledge Gathering 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2175"/>
                        </a:lnSpc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2175"/>
                        </a:lnSpc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2175"/>
                        </a:lnSpc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2175"/>
                        </a:lnSpc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2175"/>
                        </a:lnSpc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9645505"/>
                  </a:ext>
                </a:extLst>
              </a:tr>
              <a:tr h="41649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Frontend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2175"/>
                        </a:lnSpc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2175"/>
                        </a:lnSpc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2175"/>
                        </a:lnSpc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2175"/>
                        </a:lnSpc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2175"/>
                        </a:lnSpc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676551"/>
                  </a:ext>
                </a:extLst>
              </a:tr>
              <a:tr h="41649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Backend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2175"/>
                        </a:lnSpc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2175"/>
                        </a:lnSpc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2175"/>
                        </a:lnSpc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2175"/>
                        </a:lnSpc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2175"/>
                        </a:lnSpc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891091"/>
                  </a:ext>
                </a:extLst>
              </a:tr>
              <a:tr h="34849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Database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2175"/>
                        </a:lnSpc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2175"/>
                        </a:lnSpc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2175"/>
                        </a:lnSpc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2175"/>
                        </a:lnSpc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2175"/>
                        </a:lnSpc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085896"/>
                  </a:ext>
                </a:extLst>
              </a:tr>
              <a:tr h="51849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Admin Dashboard, Payment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2175"/>
                        </a:lnSpc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2175"/>
                        </a:lnSpc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2175"/>
                        </a:lnSpc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2175"/>
                        </a:lnSpc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2175"/>
                        </a:lnSpc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471550"/>
                  </a:ext>
                </a:extLst>
              </a:tr>
              <a:tr h="348499">
                <a:tc>
                  <a:txBody>
                    <a:bodyPr/>
                    <a:lstStyle/>
                    <a:p>
                      <a:pPr lvl="0" algn="l">
                        <a:lnSpc>
                          <a:spcPts val="1950"/>
                        </a:lnSpc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Testing, Bug Fixing and Deployment</a:t>
                      </a:r>
                      <a:endParaRPr lang="en-US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2175"/>
                        </a:lnSpc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2175"/>
                        </a:lnSpc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2175"/>
                        </a:lnSpc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2175"/>
                        </a:lnSpc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auto">
                        <a:lnSpc>
                          <a:spcPts val="2175"/>
                        </a:lnSpc>
                        <a:buNone/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393401"/>
                  </a:ext>
                </a:extLst>
              </a:tr>
            </a:tbl>
          </a:graphicData>
        </a:graphic>
      </p:graphicFrame>
      <p:sp>
        <p:nvSpPr>
          <p:cNvPr id="12" name="Right Arrow 1">
            <a:extLst>
              <a:ext uri="{FF2B5EF4-FFF2-40B4-BE49-F238E27FC236}">
                <a16:creationId xmlns:a16="http://schemas.microsoft.com/office/drawing/2014/main" id="{BCF180F8-C11A-BDD9-E07E-73FAF29B68EF}"/>
              </a:ext>
            </a:extLst>
          </p:cNvPr>
          <p:cNvSpPr/>
          <p:nvPr/>
        </p:nvSpPr>
        <p:spPr>
          <a:xfrm>
            <a:off x="7547473" y="2483483"/>
            <a:ext cx="496116" cy="2612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ight Arrow 1">
            <a:extLst>
              <a:ext uri="{FF2B5EF4-FFF2-40B4-BE49-F238E27FC236}">
                <a16:creationId xmlns:a16="http://schemas.microsoft.com/office/drawing/2014/main" id="{4E4696B6-4A00-2694-9A7E-F7AB82050F02}"/>
              </a:ext>
            </a:extLst>
          </p:cNvPr>
          <p:cNvSpPr/>
          <p:nvPr/>
        </p:nvSpPr>
        <p:spPr>
          <a:xfrm>
            <a:off x="9480351" y="3672947"/>
            <a:ext cx="728433" cy="2705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Right Arrow 1">
            <a:extLst>
              <a:ext uri="{FF2B5EF4-FFF2-40B4-BE49-F238E27FC236}">
                <a16:creationId xmlns:a16="http://schemas.microsoft.com/office/drawing/2014/main" id="{511CF312-21BE-8704-92BE-1E01CE7ED06D}"/>
              </a:ext>
            </a:extLst>
          </p:cNvPr>
          <p:cNvSpPr/>
          <p:nvPr/>
        </p:nvSpPr>
        <p:spPr>
          <a:xfrm>
            <a:off x="8049277" y="2845897"/>
            <a:ext cx="709847" cy="2519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Right Arrow 1">
            <a:extLst>
              <a:ext uri="{FF2B5EF4-FFF2-40B4-BE49-F238E27FC236}">
                <a16:creationId xmlns:a16="http://schemas.microsoft.com/office/drawing/2014/main" id="{DEAA0EB2-FF4C-F4F7-797A-E8013C1A9293}"/>
              </a:ext>
            </a:extLst>
          </p:cNvPr>
          <p:cNvSpPr/>
          <p:nvPr/>
        </p:nvSpPr>
        <p:spPr>
          <a:xfrm>
            <a:off x="8764814" y="3291945"/>
            <a:ext cx="709847" cy="2519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Right Arrow 1">
            <a:extLst>
              <a:ext uri="{FF2B5EF4-FFF2-40B4-BE49-F238E27FC236}">
                <a16:creationId xmlns:a16="http://schemas.microsoft.com/office/drawing/2014/main" id="{D1243F8C-DC76-FCE6-0656-DA12783CE117}"/>
              </a:ext>
            </a:extLst>
          </p:cNvPr>
          <p:cNvSpPr/>
          <p:nvPr/>
        </p:nvSpPr>
        <p:spPr>
          <a:xfrm>
            <a:off x="10214473" y="4193337"/>
            <a:ext cx="728433" cy="2705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Right Arrow 1">
            <a:extLst>
              <a:ext uri="{FF2B5EF4-FFF2-40B4-BE49-F238E27FC236}">
                <a16:creationId xmlns:a16="http://schemas.microsoft.com/office/drawing/2014/main" id="{B6036129-8D41-EEAC-4E49-69BCB263EB63}"/>
              </a:ext>
            </a:extLst>
          </p:cNvPr>
          <p:cNvSpPr/>
          <p:nvPr/>
        </p:nvSpPr>
        <p:spPr>
          <a:xfrm>
            <a:off x="10762741" y="4620800"/>
            <a:ext cx="728433" cy="2705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647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52;p7">
            <a:extLst>
              <a:ext uri="{FF2B5EF4-FFF2-40B4-BE49-F238E27FC236}">
                <a16:creationId xmlns:a16="http://schemas.microsoft.com/office/drawing/2014/main" id="{D37C61A7-C51C-BC37-AD65-86F0DDDF71C5}"/>
              </a:ext>
            </a:extLst>
          </p:cNvPr>
          <p:cNvSpPr txBox="1"/>
          <p:nvPr/>
        </p:nvSpPr>
        <p:spPr>
          <a:xfrm>
            <a:off x="3760695" y="2965118"/>
            <a:ext cx="467047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3808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Skilled-based Online Marketplace </vt:lpstr>
      <vt:lpstr> </vt:lpstr>
      <vt:lpstr>User Registration &amp; Role Assignment  Job Categorization &amp; Skill Filtering  Availability Management  Rating &amp; Feedback System  Advanced Search &amp; Filtering  Subscription Options  </vt:lpstr>
      <vt:lpstr>Notification System  Payment Gateway  Bidding System  Analytics Dashboard  Real-Time Chat        </vt:lpstr>
      <vt:lpstr>References This chapter will list all the references and resources used during the development of the project. Possible references include:  MERN Stack Documentation: MongoDB, Express, React, and Node.js official docs.  Payment Integration: SSLCommerz  Live Chatting Web Socket: For real-time communication between users. 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402</cp:revision>
  <dcterms:created xsi:type="dcterms:W3CDTF">2025-04-26T17:20:35Z</dcterms:created>
  <dcterms:modified xsi:type="dcterms:W3CDTF">2025-04-26T20:32:26Z</dcterms:modified>
</cp:coreProperties>
</file>